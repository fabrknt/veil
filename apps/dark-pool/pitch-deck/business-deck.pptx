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fabrknt/vei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1219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VEIL DARK POOL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2468880"/>
            <a:ext cx="1219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SHIELDED PERP EXECUTION ON SOLANA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320040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on-chain equivalent of what NYSE already operates.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0" y="37490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Solana Frontier Hackathon 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0" y="4754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FF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on Devnet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303520" y="4754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FF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 Tests Passing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06640" y="4754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FF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Production Infra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0" y="594360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5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FPAF4iwMtb2CWDcqpWf6NJzJCYrBhQNH8PkWY8ZCGMUA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0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$7T/MONTH IN PERPS, ZERO DARK POOLS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3200400" cy="1371600"/>
          </a:xfrm>
          <a:prstGeom prst="rect">
            <a:avLst/>
          </a:prstGeom>
          <a:solidFill>
            <a:srgbClr val="000A0F"/>
          </a:solidFill>
          <a:ln w="6350">
            <a:solidFill>
              <a:srgbClr val="1122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031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5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Monthly perp volume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389120" y="2011680"/>
            <a:ext cx="3200400" cy="1371600"/>
          </a:xfrm>
          <a:prstGeom prst="rect">
            <a:avLst/>
          </a:prstGeom>
          <a:solidFill>
            <a:srgbClr val="000A0F"/>
          </a:solidFill>
          <a:ln w="6350">
            <a:solidFill>
              <a:srgbClr val="1122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21031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30-50%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389120" y="2834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5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TradFi equity via dark pools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046720" y="2011680"/>
            <a:ext cx="3200400" cy="1371600"/>
          </a:xfrm>
          <a:prstGeom prst="rect">
            <a:avLst/>
          </a:prstGeom>
          <a:solidFill>
            <a:srgbClr val="000A0F"/>
          </a:solidFill>
          <a:ln w="6350">
            <a:solidFill>
              <a:srgbClr val="1122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21031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0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046720" y="2834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5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Dark pool volume on Solana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0C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large perp trade on Solana gets front-run, sandwiched, or copied.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0C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capital won't enter until execution is private.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48463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0C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Solana now has multiple mature perp venues (Drift, Jupiter Perps, Phoenix).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0C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liquidity is here. The privacy layer is missing.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0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LANDSCAPE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ONE OCCUPIES THIS POSITION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029200" cy="1828800"/>
          </a:xfrm>
          <a:prstGeom prst="rect">
            <a:avLst/>
          </a:prstGeom>
          <a:solidFill>
            <a:srgbClr val="000A0F"/>
          </a:solidFill>
          <a:ln w="6350">
            <a:solidFill>
              <a:srgbClr val="1A253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5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LAYER + PERPS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VEIL DARK POOL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834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Silhouette (HL only)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0" y="1828800"/>
            <a:ext cx="5029200" cy="1828800"/>
          </a:xfrm>
          <a:prstGeom prst="rect">
            <a:avLst/>
          </a:prstGeom>
          <a:solidFill>
            <a:srgbClr val="000A0F"/>
          </a:solidFill>
          <a:ln w="6350">
            <a:solidFill>
              <a:srgbClr val="1A253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658368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5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LAYER + SPOT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67512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Flashbots Protect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75120" y="2834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CoW Protocol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4114800"/>
            <a:ext cx="5029200" cy="1828800"/>
          </a:xfrm>
          <a:prstGeom prst="rect">
            <a:avLst/>
          </a:prstGeom>
          <a:solidFill>
            <a:srgbClr val="000A0F"/>
          </a:solidFill>
          <a:ln w="6350">
            <a:solidFill>
              <a:srgbClr val="1A2530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914400" y="4206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5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VALIDATOR + PERPS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05840" y="4663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Jito (bundles)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4114800"/>
            <a:ext cx="5029200" cy="1828800"/>
          </a:xfrm>
          <a:prstGeom prst="rect">
            <a:avLst/>
          </a:prstGeom>
          <a:solidFill>
            <a:srgbClr val="000A0F"/>
          </a:solidFill>
          <a:ln w="6350">
            <a:solidFill>
              <a:srgbClr val="1A2530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6583680" y="4206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5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VALIDATOR + TRANSFERS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675120" y="4663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7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Umbra (stealth addr)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Application-layer privacy for perps on Solana — the intersection no one occupies.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0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LEGAL CLARITY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CONFIDENTIALITY ≠ ANONYMITY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029200" cy="2743200"/>
          </a:xfrm>
          <a:prstGeom prst="rect">
            <a:avLst/>
          </a:prstGeom>
          <a:solidFill>
            <a:srgbClr val="000A0F"/>
          </a:solidFill>
          <a:ln w="6350">
            <a:solidFill>
              <a:srgbClr val="1122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0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TORNADO CASH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Hides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26080" y="2377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(wallet identity)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2880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0" y="2880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Permanent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 trail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0" y="3383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3886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0" y="3886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0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OFAC sanctioned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1828800"/>
            <a:ext cx="5029200" cy="2743200"/>
          </a:xfrm>
          <a:prstGeom prst="rect">
            <a:avLst/>
          </a:prstGeom>
          <a:solidFill>
            <a:srgbClr val="000A0F"/>
          </a:solidFill>
          <a:ln w="6350">
            <a:solidFill>
              <a:srgbClr val="00FF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VEIL DARK POOL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76656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Hides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95360" y="2377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(trade intent)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66560" y="2880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95360" y="2880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Until execution only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6656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 trail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95360" y="3383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DarkTradeRecord on-chain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66560" y="3886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95360" y="3886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SEC-regulated in TradFi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5029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0C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NYSE, NASDAQ, every major broker operates dark pools under Reg ATS.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0C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bringing a regulated, proven model on-chain.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0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WHY SOLANA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COMPOSABILITY IS THE MOAT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029200" cy="2926080"/>
          </a:xfrm>
          <a:prstGeom prst="rect">
            <a:avLst/>
          </a:prstGeom>
          <a:solidFill>
            <a:srgbClr val="000A0F"/>
          </a:solidFill>
          <a:ln w="6350">
            <a:solidFill>
              <a:srgbClr val="1122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0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SILHOUETTE ON HYPERLIQUID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" y="2377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Settlement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926080" y="2377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HyperCore only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2834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DEX options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26080" y="2834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(Hyperliquid)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" y="3291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26080" y="3291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0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3749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 integration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26080" y="3749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0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Bridge required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4206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Funding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26080" y="4206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$3M raised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0" y="1828800"/>
            <a:ext cx="5029200" cy="2926080"/>
          </a:xfrm>
          <a:prstGeom prst="rect">
            <a:avLst/>
          </a:prstGeom>
          <a:solidFill>
            <a:srgbClr val="000A0F"/>
          </a:solidFill>
          <a:ln w="6350">
            <a:solidFill>
              <a:srgbClr val="00FF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VEIL ON SOLANA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66560" y="2377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Settlement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595360" y="2377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Drift, Jupiter, Phoenix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66560" y="2834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DEX options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95360" y="2834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3+ venues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66560" y="3291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595360" y="3291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Atomic transactions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66560" y="3749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 integration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95360" y="3749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Native (Kamino, Marginfi...)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66560" y="4206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95360" y="4206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Devnet, seeking funding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" y="5303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0C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Silhouette is locked to one venue. Veil settles on any Solana DEX —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0C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composability that Hyperliquid structurally cannot offer.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0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GO-TO-MARKET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VAULT OPERATORS FIRST, INSTITUTIONS NEXT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1920240"/>
            <a:ext cx="182880" cy="182880"/>
          </a:xfrm>
          <a:prstGeom prst="ellipse">
            <a:avLst/>
          </a:prstGeom>
          <a:solidFill>
            <a:srgbClr val="00FFCC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828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We are our own first customer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2148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Yogi (Drift) and Kodiak (Hyperliquid) lose money on every visible rebalance.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3017520"/>
            <a:ext cx="182880" cy="182880"/>
          </a:xfrm>
          <a:prstGeom prst="ellipse">
            <a:avLst/>
          </a:prstGeom>
          <a:solidFill>
            <a:srgbClr val="334455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9260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Other vault operators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3246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Liminal ($30M), Harmonix ($6M), Reflect, GLAM — dark pool API = 1 function call.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4114800"/>
            <a:ext cx="182880" cy="182880"/>
          </a:xfrm>
          <a:prstGeom prst="ellipse">
            <a:avLst/>
          </a:prstGeom>
          <a:solidFill>
            <a:srgbClr val="334455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4023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Institutional desks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43434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firms, market makers. TEE attestation (v1) unlocks trust requirements.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5212080"/>
            <a:ext cx="182880" cy="182880"/>
          </a:xfrm>
          <a:prstGeom prst="ellipse">
            <a:avLst/>
          </a:prstGeom>
          <a:solidFill>
            <a:srgbClr val="334455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5120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Protocol integration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5440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Solana protocol CPIs into Veil. Distribution through composability.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0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REVENUE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VOLUME-BASED, NOT CAPITAL-BASED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0515600" cy="2194560"/>
          </a:xfrm>
          <a:prstGeom prst="rect">
            <a:avLst/>
          </a:prstGeom>
          <a:solidFill>
            <a:srgbClr val="000A0F"/>
          </a:solidFill>
          <a:ln w="6350">
            <a:solidFill>
              <a:srgbClr val="1122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STREAMS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" y="2377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Dark pool matching fees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0" y="2377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2-5 bps per matched trade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2743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Fallback routing fees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0" y="27432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bps per routed order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3108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Premium tiers (M-of-N threshold)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0" y="3108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Institutional pricing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3474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access for vault operators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0" y="3474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Monthly subscription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4389120"/>
            <a:ext cx="10515600" cy="1645920"/>
          </a:xfrm>
          <a:prstGeom prst="rect">
            <a:avLst/>
          </a:prstGeom>
          <a:solidFill>
            <a:srgbClr val="000A0F"/>
          </a:solidFill>
          <a:ln w="6350">
            <a:solidFill>
              <a:srgbClr val="1122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480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PROVEN IN TRADFI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7280" y="4937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IEX (dark pool exchange)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0" y="49377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FF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$300M+ annual revenue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5303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Liquidnet (institutional dark pool)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0" y="5303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FF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Acquired for $700M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" y="5669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 model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0" y="5669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FF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structure — bps on matched volume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0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TRACTION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STARTING FROM ZERO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200400" cy="1097280"/>
          </a:xfrm>
          <a:prstGeom prst="rect">
            <a:avLst/>
          </a:prstGeom>
          <a:solidFill>
            <a:srgbClr val="000A0F"/>
          </a:solidFill>
          <a:ln w="6350">
            <a:solidFill>
              <a:srgbClr val="1122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5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 passing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389120" y="1828800"/>
            <a:ext cx="3200400" cy="1097280"/>
          </a:xfrm>
          <a:prstGeom prst="rect">
            <a:avLst/>
          </a:prstGeom>
          <a:solidFill>
            <a:srgbClr val="000A0F"/>
          </a:solidFill>
          <a:ln w="6350">
            <a:solidFill>
              <a:srgbClr val="1122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18288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389120" y="2468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5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 apps in Veil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046720" y="1828800"/>
            <a:ext cx="3200400" cy="1097280"/>
          </a:xfrm>
          <a:prstGeom prst="rect">
            <a:avLst/>
          </a:prstGeom>
          <a:solidFill>
            <a:srgbClr val="000A0F"/>
          </a:solidFill>
          <a:ln w="6350">
            <a:solidFill>
              <a:srgbClr val="1122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18288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046720" y="2468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5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@fabrknt/* npm packages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3291840"/>
            <a:ext cx="5029200" cy="2377440"/>
          </a:xfrm>
          <a:prstGeom prst="rect">
            <a:avLst/>
          </a:prstGeom>
          <a:solidFill>
            <a:srgbClr val="000A0F"/>
          </a:solidFill>
          <a:ln w="6350">
            <a:solidFill>
              <a:srgbClr val="1122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383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PRODUCTION VAULTS (LIVE)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7280" y="3840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Yogi — Drift mainnet  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4251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Kodiak — Hyperliquid mainnet  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4663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veil-core — npm published  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5074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veil-orders — npm published  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0" y="3291840"/>
            <a:ext cx="5029200" cy="2377440"/>
          </a:xfrm>
          <a:prstGeom prst="rect">
            <a:avLst/>
          </a:prstGeom>
          <a:solidFill>
            <a:srgbClr val="000A0F"/>
          </a:solidFill>
          <a:ln w="6350">
            <a:solidFill>
              <a:srgbClr val="1122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3383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DARK POOL (DEVNET)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66560" y="3840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Anchor program deployed  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66560" y="4251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E2E lifecycle passing  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66560" y="4663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Drift settlement wired  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66560" y="5074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Jupiter Perps settlement wired  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66560" y="5486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Phoenix spot settlement wired  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in 1 week on top of 4+ months of production infrastructure.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0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 WITH PRODUCTION TRACK RECORD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0515600" cy="2743200"/>
          </a:xfrm>
          <a:prstGeom prst="rect">
            <a:avLst/>
          </a:prstGeom>
          <a:solidFill>
            <a:srgbClr val="000A0F"/>
          </a:solidFill>
          <a:ln w="6350">
            <a:solidFill>
              <a:srgbClr val="00FF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@PSYTO — SOLO FOUNDER, TOKYO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" y="2377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Yogi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0" y="2377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Funding rate vault, live on Drift mainnet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2788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Kodiak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2788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Delta-neutral vault, live on Hyperliquid mainnet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Veil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3200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 infra suite — 6 apps, npm published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3611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Fabrknt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3611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 infrastructure packages powering all products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4023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Experience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4023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Perps execution across Drift, Jupiter, Hyperliquid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5029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0C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run live perp vaults that lose money to MEV on every rebalance.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0C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I'm building the dark pool because I need it myself.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5760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isn't a hackathon project I'll abandon. It's the flagship product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an existing privacy infrastructure business.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0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THE PIVOT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 FEEDBACK CHANGED EVERYTHING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2011680"/>
            <a:ext cx="182880" cy="182880"/>
          </a:xfrm>
          <a:prstGeom prst="ellipse">
            <a:avLst/>
          </a:prstGeom>
          <a:solidFill>
            <a:srgbClr val="334455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9202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1-2: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0" y="22860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Syntx — cross-venue perp DEX.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venue adapters, 15 instructions, full frontend.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3566160"/>
            <a:ext cx="182880" cy="182880"/>
          </a:xfrm>
          <a:prstGeom prst="ellipse">
            <a:avLst/>
          </a:prstGeom>
          <a:solidFill>
            <a:srgbClr val="334455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34747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0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 feedback: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3840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"You're competing with Drift and Jupiter. You have no edge."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Users: "Why would I use this instead of Drift?"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5120640"/>
            <a:ext cx="182880" cy="182880"/>
          </a:xfrm>
          <a:prstGeom prst="ellipse">
            <a:avLst/>
          </a:prstGeom>
          <a:solidFill>
            <a:srgbClr val="00FFCC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029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5394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Pivoted to Veil Dark Pool. Combined proven privacy infra +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perps execution → product the ecosystem actually needs.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71600" y="5029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in 1 week. 80 tests. Deployed on devnet. E2E passing.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0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THE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 TO SHIP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029200" cy="2560320"/>
          </a:xfrm>
          <a:prstGeom prst="rect">
            <a:avLst/>
          </a:prstGeom>
          <a:solidFill>
            <a:srgbClr val="000A0F"/>
          </a:solidFill>
          <a:ln w="6350">
            <a:solidFill>
              <a:srgbClr val="1122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IMMEDIATE (COLOSSEUM ACCELERATOR)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" y="2377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 audit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0" y="2377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$50-100K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2834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TEE + QuickNode Streams (v1)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0" y="2834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months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3291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Mainnet deployment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0" y="3291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Post-audit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3749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vault integration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0" y="3749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Yogi + Kodiak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1828800"/>
            <a:ext cx="5029200" cy="2560320"/>
          </a:xfrm>
          <a:prstGeom prst="rect">
            <a:avLst/>
          </a:prstGeom>
          <a:solidFill>
            <a:srgbClr val="000A0F"/>
          </a:solidFill>
          <a:ln w="6350">
            <a:solidFill>
              <a:srgbClr val="00FF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WE BRING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766560" y="2377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Production privacy infra  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66560" y="2788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mainnet vaults  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66560" y="3200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Working dark pool on devnet  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66560" y="3611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customer (ourselves)  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66560" y="4023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Novel primitive (first on Solana)  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5029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0C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Colosseum backs teams building the next wave of Solana infrastructure.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0C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pools are that infrastructure.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0"/>
            <a:ext cx="1219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VEIL DARK POOL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292608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88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pools handle half of institutional equity volume for a reason.</a:t>
            </a:r>
            <a:endParaRPr lang="en-US" sz="16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88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Solana perps deserve the same infrastructure.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411480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of its kind. Built on production systems. Ready for mainnet.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0" y="502920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FPAF4iwMtb2CWDcqpWf6NJzJCYrBhQNH8PkWY8ZCGMUA</a:t>
            </a:r>
            <a:endParaRPr lang="en-US" sz="1000" dirty="0"/>
          </a:p>
        </p:txBody>
      </p:sp>
      <p:sp>
        <p:nvSpPr>
          <p:cNvPr id="6" name="Text 4">
            <a:hlinkClick r:id="rId1" tooltip=""/>
          </p:cNvPr>
          <p:cNvSpPr/>
          <p:nvPr/>
        </p:nvSpPr>
        <p:spPr>
          <a:xfrm>
            <a:off x="0" y="539496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00FF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github.com/fabrknt/veil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0" y="585216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@psyto · Fabrknt · Tokyo, Japan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Veil Dark Pool — Business Pitch</dc:title>
  <dc:subject>Shielded Perp Execution on Solana</dc:subject>
  <dc:creator>@psyto</dc:creator>
  <cp:lastModifiedBy>@psyto</cp:lastModifiedBy>
  <cp:revision>1</cp:revision>
  <dcterms:created xsi:type="dcterms:W3CDTF">2026-04-19T12:08:23Z</dcterms:created>
  <dcterms:modified xsi:type="dcterms:W3CDTF">2026-04-19T12:08:23Z</dcterms:modified>
</cp:coreProperties>
</file>